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9" r:id="rId11"/>
    <p:sldId id="279" r:id="rId12"/>
    <p:sldId id="275" r:id="rId13"/>
    <p:sldId id="276" r:id="rId14"/>
    <p:sldId id="277" r:id="rId15"/>
    <p:sldId id="278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89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6EF0-DAE1-BAEB-E8BE-044815122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F33FA-B487-FF31-CA29-51B615978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03A43-F9EE-F367-D0D0-540472796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2E9C9-57AB-3976-D85F-AEEB94F3C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44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387090"/>
            <a:ext cx="7924800" cy="822960"/>
          </a:xfrm>
          <a:prstGeom prst="rect">
            <a:avLst/>
          </a:prstGeom>
          <a:noFill/>
          <a:ln w="15240">
            <a:solidFill>
              <a:srgbClr val="38BDF8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93345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Payment Fraud Detection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3132001" y="3466437"/>
            <a:ext cx="3880799" cy="66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20"/>
              </a:lnSpc>
              <a:buNone/>
            </a:pP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Sarithala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Ashraff        -AP25122040018</a:t>
            </a:r>
          </a:p>
          <a:p>
            <a:pPr marL="0" indent="0" algn="just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 Vamsi Krushna - AP25122040009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Transactions Rising: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Digital payment systems experiencing exponential growth worldwide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Threat: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Heightened exposure to fraudulent activities and security risks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DL Role: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Learning and Deep Learning enable intelligent fraud detection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Automated systems protect millions of transactions daily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Class Imbalance: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6.3 million transactions with only 0.15% fraudulent cases (8,213 instances)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Models bias toward majority class, missing critical fraud patterns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Issue: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Processing large-scale financial datasets efficiently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Trade-off: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 between detecting fraud and minimizing false alarms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1310640"/>
            <a:ext cx="7924800" cy="252222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4782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Characteristics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1950720"/>
            <a:ext cx="70866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Records: 6.3 Million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Cases: 8,213 (0.15%)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10 dimensions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Financial transactions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72000" y="1478281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355000" y="1912141"/>
            <a:ext cx="70866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Step &amp; Amount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Sender/Receiver Balances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isFraud Label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Data 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Handling missing values and removing duplicates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Encoding: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Categorical variables (transaction type) encoded to numerical format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Scaling features to consistent range for model training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training, 20% testing for unbiased evaluation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derived features to capture fraud patterns: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44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38200" y="1905000"/>
            <a:ext cx="76962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origin_error: Balance difference (sender)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dest_error: Balance difference (receiver)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features for anomaly detection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315087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Features: 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3440430"/>
            <a:ext cx="76962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step, type, amount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oldBalanceOrig, newBalanceOrig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oldBalanceDest, newBalanceDest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Class Imbalance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0.15% fraudulent transactions create severe imbalance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311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SMOTE (Synthetic Minority Oversampling Technique)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8407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synthetic minority samples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training dataset distribution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model bias toward legitimate transactions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effective fraud pattern learning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Design: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Multi-layer Deep Neural Network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44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features from engineered dataset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128 → 64 → 32 neurons with ReLU activation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Dropout layers prevent overfitting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Sigmoid activation for binary classification (Fraud/Legitimate)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70999" y="1151208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Overall classification correctness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True positives among predicted positives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(Critical):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Fraud cases detected; missing fraud = higher risk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Harmonic mean of precision and recall</a:t>
            </a:r>
            <a:endParaRPr lang="en-US" sz="13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15EE9-4C5E-9C9B-97B5-12805265D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99" y="2841968"/>
            <a:ext cx="7706801" cy="21338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>
            <a:extLst>
              <a:ext uri="{FF2B5EF4-FFF2-40B4-BE49-F238E27FC236}">
                <a16:creationId xmlns:a16="http://schemas.microsoft.com/office/drawing/2014/main" id="{484231F7-4B04-5157-175F-46ED0172BBF9}"/>
              </a:ext>
            </a:extLst>
          </p:cNvPr>
          <p:cNvSpPr/>
          <p:nvPr/>
        </p:nvSpPr>
        <p:spPr>
          <a:xfrm>
            <a:off x="1606748" y="1249026"/>
            <a:ext cx="1607225" cy="151769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9B79C40B-B64B-957C-CD5E-3FE66950774D}"/>
              </a:ext>
            </a:extLst>
          </p:cNvPr>
          <p:cNvSpPr/>
          <p:nvPr/>
        </p:nvSpPr>
        <p:spPr>
          <a:xfrm>
            <a:off x="3823573" y="1387612"/>
            <a:ext cx="1640086" cy="124039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8EA0DDE4-76F3-7030-07B2-C0132C75BB86}"/>
              </a:ext>
            </a:extLst>
          </p:cNvPr>
          <p:cNvSpPr/>
          <p:nvPr/>
        </p:nvSpPr>
        <p:spPr>
          <a:xfrm>
            <a:off x="6073260" y="1387612"/>
            <a:ext cx="1463992" cy="1240393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6C7783F8-889D-FEA5-7AFF-BD8B6AF808F9}"/>
              </a:ext>
            </a:extLst>
          </p:cNvPr>
          <p:cNvSpPr/>
          <p:nvPr/>
        </p:nvSpPr>
        <p:spPr>
          <a:xfrm>
            <a:off x="2667000" y="3696355"/>
            <a:ext cx="3810000" cy="96012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  <a:effectLst>
            <a:outerShdw blurRad="152400" dist="76200" dir="5400000" algn="bl" rotWithShape="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2F7541A4-A206-3520-BDC5-96B910972347}"/>
              </a:ext>
            </a:extLst>
          </p:cNvPr>
          <p:cNvSpPr/>
          <p:nvPr/>
        </p:nvSpPr>
        <p:spPr>
          <a:xfrm>
            <a:off x="1361636" y="487026"/>
            <a:ext cx="6420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Real-Time Detection</a:t>
            </a:r>
            <a:endParaRPr lang="en-US" sz="30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80D2FFF8-8580-6416-8C4E-ACF94041BB40}"/>
              </a:ext>
            </a:extLst>
          </p:cNvPr>
          <p:cNvSpPr/>
          <p:nvPr/>
        </p:nvSpPr>
        <p:spPr>
          <a:xfrm>
            <a:off x="1873448" y="1553826"/>
            <a:ext cx="1111925" cy="83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Transaction Input</a:t>
            </a:r>
            <a:endParaRPr lang="en-US" sz="156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FA0AD0EC-91CC-CF4C-9B68-11B4B7B6B5EA}"/>
              </a:ext>
            </a:extLst>
          </p:cNvPr>
          <p:cNvSpPr/>
          <p:nvPr/>
        </p:nvSpPr>
        <p:spPr>
          <a:xfrm>
            <a:off x="3363325" y="1794448"/>
            <a:ext cx="3108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48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CA69C33-814E-EA1E-1F35-636BEE5B9EB5}"/>
              </a:ext>
            </a:extLst>
          </p:cNvPr>
          <p:cNvSpPr/>
          <p:nvPr/>
        </p:nvSpPr>
        <p:spPr>
          <a:xfrm>
            <a:off x="4090273" y="1692412"/>
            <a:ext cx="1144786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Feature Engineering</a:t>
            </a:r>
            <a:endParaRPr lang="en-US" sz="156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BC3638E5-D5C1-2756-C3D3-EA83CD40290F}"/>
              </a:ext>
            </a:extLst>
          </p:cNvPr>
          <p:cNvSpPr/>
          <p:nvPr/>
        </p:nvSpPr>
        <p:spPr>
          <a:xfrm>
            <a:off x="5613012" y="1794448"/>
            <a:ext cx="3108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480"/>
              </a:lnSpc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2FC5B256-4365-91FC-40FE-A783A7FBC600}"/>
              </a:ext>
            </a:extLst>
          </p:cNvPr>
          <p:cNvSpPr/>
          <p:nvPr/>
        </p:nvSpPr>
        <p:spPr>
          <a:xfrm>
            <a:off x="6339960" y="1692412"/>
            <a:ext cx="968693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DNN Prediction</a:t>
            </a:r>
            <a:endParaRPr lang="en-US" sz="156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3EA4F110-068B-86EC-2FDE-1DF336162F1A}"/>
              </a:ext>
            </a:extLst>
          </p:cNvPr>
          <p:cNvSpPr/>
          <p:nvPr/>
        </p:nvSpPr>
        <p:spPr>
          <a:xfrm>
            <a:off x="530352" y="3071514"/>
            <a:ext cx="8083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57BA4CD2-261F-3A2F-165E-A7C6E5395747}"/>
              </a:ext>
            </a:extLst>
          </p:cNvPr>
          <p:cNvSpPr/>
          <p:nvPr/>
        </p:nvSpPr>
        <p:spPr>
          <a:xfrm>
            <a:off x="2955341" y="4016396"/>
            <a:ext cx="32333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3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Fraud/Legitimate Decision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2EBD1-EC78-9994-1169-A65EDE9AE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4">
            <a:extLst>
              <a:ext uri="{FF2B5EF4-FFF2-40B4-BE49-F238E27FC236}">
                <a16:creationId xmlns:a16="http://schemas.microsoft.com/office/drawing/2014/main" id="{90A09A70-317D-19DB-8BE4-30232D4DFC32}"/>
              </a:ext>
            </a:extLst>
          </p:cNvPr>
          <p:cNvSpPr/>
          <p:nvPr/>
        </p:nvSpPr>
        <p:spPr>
          <a:xfrm>
            <a:off x="2075568" y="931047"/>
            <a:ext cx="4995893" cy="17894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Website Interface</a:t>
            </a: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CDD169D-D9EF-76C0-E5E2-AF3CB399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053288"/>
            <a:ext cx="9155399" cy="92522"/>
            <a:chOff x="-5025" y="6737718"/>
            <a:chExt cx="12207200" cy="123363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0C11A61-5FF9-ABB4-D6A8-E2420D9FC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C0D1B6C-CE1F-818D-CB3D-07FBCDBFF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826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7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053161-DCD0-926F-FA9D-4CACA7857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14" y="482600"/>
            <a:ext cx="7846570" cy="41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749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5B1E3-9B32-C2B5-A87B-BED506E67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8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BE4152-3735-DC80-F0F4-64E3D3B18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14" y="482600"/>
            <a:ext cx="7846570" cy="41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83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43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D8EDC4-8969-CA16-3E9A-4D14E497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08" y="482600"/>
            <a:ext cx="7883583" cy="41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59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19766-5F7C-AD60-02DC-D661C4FE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7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360045"/>
            <a:ext cx="8428482" cy="44234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A06B67-BF02-31C7-188E-F2CE1BAF5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14" y="482600"/>
            <a:ext cx="7846570" cy="417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6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Class Imbalance: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Fraud represents only 0.15% of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Scale Processing: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Handling 6.3 million records efficiently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Complexity: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Understanding relationships between financial attributes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Balancing fraud detection with user experience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&amp;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Architectures: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LSTM, GRU for temporal fraud patterns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multiple models for robustness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Adaptation: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Online learning for evolving fraud tactics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(XAI):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Understanding model decisions for transparency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53682"/>
            <a:ext cx="7924800" cy="198501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Contributions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145986"/>
            <a:ext cx="7086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for imbalance handling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pipeline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DNN architecture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52757" y="159115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91100" y="2072642"/>
            <a:ext cx="70866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system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implementation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detection capability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881" y="609600"/>
            <a:ext cx="19042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2291721"/>
            <a:ext cx="76200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successfully demonstrates a </a:t>
            </a: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Neural Network-based fraud detection system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capable of processing large-scale financial datasets with severe class imbalance. Through effective data preprocessing, feature engineering, and SMOTE-based balancing, the model achieves strong performance in detecting fraudulent transactions while maintaining system scalability and reliability for real-world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324044" y="1360168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545923" y="2137414"/>
            <a:ext cx="205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579</Words>
  <Application>Microsoft Office PowerPoint</Application>
  <PresentationFormat>On-screen Show (16:9)</PresentationFormat>
  <Paragraphs>105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B.Vamsi Krushna</cp:lastModifiedBy>
  <cp:revision>4</cp:revision>
  <dcterms:created xsi:type="dcterms:W3CDTF">2025-12-02T17:57:25Z</dcterms:created>
  <dcterms:modified xsi:type="dcterms:W3CDTF">2025-12-05T11:06:14Z</dcterms:modified>
</cp:coreProperties>
</file>